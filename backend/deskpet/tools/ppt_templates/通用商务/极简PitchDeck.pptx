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IBM Plex Sans" panose="020B0503050203000203"/>
      <p:regular r:id="rId25"/>
    </p:embeddedFont>
    <p:embeddedFont>
      <p:font typeface="IBM Plex Sans Bold" panose="020B0803050203000203"/>
      <p:bold r:id="rId26"/>
    </p:embeddedFont>
    <p:embeddedFont>
      <p:font typeface="Poppins Light" panose="00000400000000000000"/>
      <p:regular r:id="rId27"/>
    </p:embeddedFont>
    <p:embeddedFont>
      <p:font typeface="Poppins Medium Bold" panose="0200000000000000000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1.xml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21650" y="2990197"/>
            <a:ext cx="8822674" cy="46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90"/>
              </a:lnSpc>
            </a:pPr>
            <a:r>
              <a:rPr lang="en-US" sz="20830" spc="-833">
                <a:solidFill>
                  <a:srgbClr val="000000"/>
                </a:solidFill>
                <a:latin typeface="IBM Plex Sans" panose="020B0503050203000203"/>
              </a:rPr>
              <a:t>Pitch </a:t>
            </a:r>
            <a:endParaRPr lang="en-US" sz="20830" spc="-833">
              <a:solidFill>
                <a:srgbClr val="000000"/>
              </a:solidFill>
              <a:latin typeface="IBM Plex Sans" panose="020B0503050203000203"/>
            </a:endParaRPr>
          </a:p>
          <a:p>
            <a:pPr algn="ctr">
              <a:lnSpc>
                <a:spcPts val="17290"/>
              </a:lnSpc>
            </a:pPr>
            <a:r>
              <a:rPr lang="en-US" sz="20830" spc="-833">
                <a:solidFill>
                  <a:srgbClr val="000000"/>
                </a:solidFill>
                <a:latin typeface="IBM Plex Sans" panose="020B0503050203000203"/>
              </a:rPr>
              <a:t>Deck </a:t>
            </a:r>
            <a:endParaRPr lang="en-US" sz="20830" spc="-833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023910" y="4910452"/>
            <a:ext cx="3097071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IBM Plex Sans" panose="020B0503050203000203"/>
              </a:rPr>
              <a:t>Creative</a:t>
            </a:r>
            <a:endParaRPr lang="en-US" sz="1800">
              <a:solidFill>
                <a:srgbClr val="000000"/>
              </a:solidFill>
              <a:latin typeface="IBM Plex Sans" panose="020B0503050203000203"/>
            </a:endParaRPr>
          </a:p>
          <a:p>
            <a:pPr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IBM Plex Sans" panose="020B0503050203000203"/>
              </a:rPr>
              <a:t>Presentation</a:t>
            </a:r>
            <a:endParaRPr lang="en-US" sz="18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969121"/>
            <a:ext cx="3097071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IBM Plex Sans" panose="020B0503050203000203"/>
              </a:rPr>
              <a:t>https://v.youku.com/v_show/id_XNTg4OTcwMDM3Ng==.html</a:t>
            </a:r>
            <a:endParaRPr lang="en-US" sz="1800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8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341237"/>
            <a:ext cx="10113900" cy="291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35"/>
              </a:lnSpc>
            </a:pPr>
            <a:r>
              <a:rPr lang="en-US" sz="10400" spc="-416">
                <a:solidFill>
                  <a:srgbClr val="222222"/>
                </a:solidFill>
                <a:latin typeface="IBM Plex Sans" panose="020B0503050203000203"/>
              </a:rPr>
              <a:t>PRESENTATION</a:t>
            </a:r>
            <a:endParaRPr lang="en-US" sz="10400" spc="-416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11335"/>
              </a:lnSpc>
            </a:pPr>
            <a:r>
              <a:rPr lang="en-US" sz="10400" spc="-416">
                <a:solidFill>
                  <a:srgbClr val="222222"/>
                </a:solidFill>
                <a:latin typeface="IBM Plex Sans" panose="020B0503050203000203"/>
              </a:rPr>
              <a:t>FLOW</a:t>
            </a:r>
            <a:endParaRPr lang="en-US" sz="10400" spc="-416">
              <a:solidFill>
                <a:srgbClr val="222222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279054" y="4411980"/>
            <a:ext cx="3980246" cy="484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Introduction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Content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About Us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Our Plan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SWOT  Analysis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Target Market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Meet the Team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  <a:r>
              <a:rPr lang="en-US" sz="2400" spc="-48">
                <a:solidFill>
                  <a:srgbClr val="222222"/>
                </a:solidFill>
                <a:latin typeface="IBM Plex Sans" panose="020B0503050203000203"/>
              </a:rPr>
              <a:t>Portfolio</a:t>
            </a:r>
            <a:endParaRPr lang="en-US" sz="2400" spc="-48">
              <a:solidFill>
                <a:srgbClr val="222222"/>
              </a:solidFill>
              <a:latin typeface="IBM Plex Sans" panose="020B0503050203000203"/>
            </a:endParaRPr>
          </a:p>
          <a:p>
            <a:pPr>
              <a:lnSpc>
                <a:spcPts val="432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1028700" y="816610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02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405" t="34402" r="1604" b="2981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35448" y="3825398"/>
            <a:ext cx="8817104" cy="316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sz="8000">
                <a:solidFill>
                  <a:srgbClr val="222222"/>
                </a:solidFill>
                <a:latin typeface="IBM Plex Sans" panose="020B0503050203000203"/>
              </a:rPr>
              <a:t>Great brands have the power to shape the world.</a:t>
            </a:r>
            <a:endParaRPr lang="en-US" sz="8000">
              <a:solidFill>
                <a:srgbClr val="222222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45468" y="816610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03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7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536234" y="-176589"/>
            <a:ext cx="10908833" cy="10664602"/>
            <a:chOff x="0" y="0"/>
            <a:chExt cx="2546799" cy="24897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6799" cy="2489781"/>
            </a:xfrm>
            <a:custGeom>
              <a:avLst/>
              <a:gdLst/>
              <a:ahLst/>
              <a:cxnLst/>
              <a:rect l="l" t="t" r="r" b="b"/>
              <a:pathLst>
                <a:path w="2546799" h="2489781">
                  <a:moveTo>
                    <a:pt x="0" y="0"/>
                  </a:moveTo>
                  <a:lnTo>
                    <a:pt x="2546799" y="0"/>
                  </a:lnTo>
                  <a:lnTo>
                    <a:pt x="2546799" y="2489781"/>
                  </a:lnTo>
                  <a:lnTo>
                    <a:pt x="0" y="2489781"/>
                  </a:lnTo>
                  <a:close/>
                </a:path>
              </a:pathLst>
            </a:custGeom>
            <a:solidFill>
              <a:srgbClr val="816F41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9949836" y="2121570"/>
            <a:ext cx="6096513" cy="6050215"/>
            <a:chOff x="0" y="0"/>
            <a:chExt cx="8128685" cy="8066953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1"/>
            <a:srcRect t="16919" b="16919"/>
            <a:stretch>
              <a:fillRect/>
            </a:stretch>
          </p:blipFill>
          <p:spPr>
            <a:xfrm>
              <a:off x="0" y="0"/>
              <a:ext cx="8128685" cy="8066953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1028700" y="1123950"/>
            <a:ext cx="6307169" cy="136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60"/>
              </a:lnSpc>
            </a:pPr>
            <a:r>
              <a:rPr lang="en-US" sz="9600" spc="211">
                <a:solidFill>
                  <a:srgbClr val="222222"/>
                </a:solidFill>
                <a:latin typeface="IBM Plex Sans" panose="020B0503050203000203"/>
              </a:rPr>
              <a:t>About Us</a:t>
            </a:r>
            <a:endParaRPr lang="en-US" sz="9600" spc="211">
              <a:solidFill>
                <a:srgbClr val="222222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032020"/>
            <a:ext cx="4663416" cy="145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40"/>
              </a:lnSpc>
            </a:pPr>
            <a:r>
              <a:rPr lang="en-US" sz="1300">
                <a:solidFill>
                  <a:srgbClr val="222222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300">
                <a:solidFill>
                  <a:srgbClr val="222222"/>
                </a:solidFill>
                <a:latin typeface="IBM Plex Sans" panose="020B0503050203000203"/>
              </a:rPr>
              <a:t>d as demonstrations, lectures, speeches, reports, and more. It is mostly presented before an audience. It serves a variety of purposes, making presentations powerful tools for convincing and teaching.</a:t>
            </a:r>
            <a:endParaRPr lang="en-US" sz="1300">
              <a:solidFill>
                <a:srgbClr val="222222"/>
              </a:solidFill>
              <a:latin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928687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04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94266" y="2359580"/>
            <a:ext cx="7009612" cy="184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80"/>
              </a:lnSpc>
            </a:pPr>
            <a:r>
              <a:rPr lang="en-US" sz="12980" spc="285">
                <a:solidFill>
                  <a:srgbClr val="000000"/>
                </a:solidFill>
                <a:latin typeface="IBM Plex Sans" panose="020B0503050203000203"/>
              </a:rPr>
              <a:t>Our Plan</a:t>
            </a:r>
            <a:endParaRPr lang="en-US" sz="12980" spc="285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94266" y="5660429"/>
            <a:ext cx="6330804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000000"/>
                </a:solidFill>
                <a:latin typeface="IBM Plex Sans" panose="020B0503050203000203"/>
              </a:rPr>
              <a:t>Vision</a:t>
            </a:r>
            <a:endParaRPr lang="en-US" sz="48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108421" y="5660429"/>
            <a:ext cx="6330804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en-US" sz="4800">
                <a:solidFill>
                  <a:srgbClr val="000000"/>
                </a:solidFill>
                <a:latin typeface="IBM Plex Sans" panose="020B0503050203000203"/>
              </a:rPr>
              <a:t>Mission</a:t>
            </a:r>
            <a:endParaRPr lang="en-US" sz="48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094266" y="6563212"/>
            <a:ext cx="3696650" cy="1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demonstrations, lectures, speeches, reports, and more. It is mostly presented before an audience. It serves a variety of purposes, making presentations powerful tools for convincing and teaching.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08421" y="6563212"/>
            <a:ext cx="3696650" cy="1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demonstrations, lectures, speeches, reports, and more. It is mostly presented before an audience. It serves a variety of purposes, making presentations powerful tools for convincing and teaching.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05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79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841994" y="0"/>
            <a:ext cx="10751368" cy="10464548"/>
            <a:chOff x="0" y="0"/>
            <a:chExt cx="7427345" cy="72292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27345" cy="7229201"/>
            </a:xfrm>
            <a:custGeom>
              <a:avLst/>
              <a:gdLst/>
              <a:ahLst/>
              <a:cxnLst/>
              <a:rect l="l" t="t" r="r" b="b"/>
              <a:pathLst>
                <a:path w="7427345" h="7229201">
                  <a:moveTo>
                    <a:pt x="0" y="0"/>
                  </a:moveTo>
                  <a:lnTo>
                    <a:pt x="7427345" y="0"/>
                  </a:lnTo>
                  <a:lnTo>
                    <a:pt x="7427345" y="7229201"/>
                  </a:lnTo>
                  <a:lnTo>
                    <a:pt x="0" y="7229201"/>
                  </a:lnTo>
                  <a:close/>
                </a:path>
              </a:pathLst>
            </a:custGeom>
            <a:solidFill>
              <a:srgbClr val="20190F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11142532" y="6972014"/>
            <a:ext cx="4865846" cy="991350"/>
            <a:chOff x="0" y="0"/>
            <a:chExt cx="3934312" cy="8015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34312" cy="801563"/>
            </a:xfrm>
            <a:custGeom>
              <a:avLst/>
              <a:gdLst/>
              <a:ahLst/>
              <a:cxnLst/>
              <a:rect l="l" t="t" r="r" b="b"/>
              <a:pathLst>
                <a:path w="3934312" h="801563">
                  <a:moveTo>
                    <a:pt x="0" y="0"/>
                  </a:moveTo>
                  <a:lnTo>
                    <a:pt x="3934312" y="0"/>
                  </a:lnTo>
                  <a:lnTo>
                    <a:pt x="3934312" y="801563"/>
                  </a:lnTo>
                  <a:lnTo>
                    <a:pt x="0" y="801563"/>
                  </a:lnTo>
                  <a:close/>
                </a:path>
              </a:pathLst>
            </a:custGeom>
            <a:solidFill>
              <a:srgbClr val="F9FFED"/>
            </a:solidFill>
          </p:spPr>
        </p:sp>
      </p:grpSp>
      <p:grpSp>
        <p:nvGrpSpPr>
          <p:cNvPr id="6" name="Group 6"/>
          <p:cNvGrpSpPr/>
          <p:nvPr/>
        </p:nvGrpSpPr>
        <p:grpSpPr>
          <a:xfrm rot="0">
            <a:off x="11142532" y="2204954"/>
            <a:ext cx="4865846" cy="4843351"/>
            <a:chOff x="0" y="0"/>
            <a:chExt cx="6487795" cy="645780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1"/>
            <a:srcRect t="16820" b="16820"/>
            <a:stretch>
              <a:fillRect/>
            </a:stretch>
          </p:blipFill>
          <p:spPr>
            <a:xfrm>
              <a:off x="0" y="0"/>
              <a:ext cx="6487795" cy="6457801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0">
            <a:off x="-173676" y="-446278"/>
            <a:ext cx="4865846" cy="1915242"/>
            <a:chOff x="0" y="0"/>
            <a:chExt cx="6487795" cy="255365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t="36879" b="36879"/>
            <a:stretch>
              <a:fillRect/>
            </a:stretch>
          </p:blipFill>
          <p:spPr>
            <a:xfrm>
              <a:off x="0" y="0"/>
              <a:ext cx="6487795" cy="2553656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86849" y="2965825"/>
            <a:ext cx="5610643" cy="258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00"/>
              </a:lnSpc>
            </a:pPr>
            <a:r>
              <a:rPr lang="en-US" sz="9180" spc="201">
                <a:solidFill>
                  <a:srgbClr val="000000"/>
                </a:solidFill>
                <a:latin typeface="IBM Plex Sans" panose="020B0503050203000203"/>
              </a:rPr>
              <a:t>Rachelle Beaudry</a:t>
            </a:r>
            <a:endParaRPr lang="en-US" sz="9180" spc="201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86849" y="6654630"/>
            <a:ext cx="3903598" cy="130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demonstrations, lectures, speeches, reports, and more. It is mostly presented before an audience. It serves a variety of purposes, making presentations powerful tools for convincing and teaching.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259582" y="7384562"/>
            <a:ext cx="2631746" cy="246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5"/>
              </a:lnSpc>
            </a:pPr>
            <a:r>
              <a:rPr lang="en-US" sz="1965">
                <a:solidFill>
                  <a:srgbClr val="000000"/>
                </a:solidFill>
                <a:latin typeface="IBM Plex Sans Bold" panose="020B0803050203000203"/>
              </a:rPr>
              <a:t>FOUNDER / CEO</a:t>
            </a:r>
            <a:endParaRPr lang="en-US" sz="1965">
              <a:solidFill>
                <a:srgbClr val="000000"/>
              </a:solidFill>
              <a:latin typeface="IBM Plex Sans Bold" panose="020B0803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45468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IBM Plex Sans" panose="020B0503050203000203"/>
              </a:rPr>
              <a:t>Page / 06</a:t>
            </a:r>
            <a:endParaRPr lang="en-US" sz="1600" spc="96">
              <a:solidFill>
                <a:srgbClr val="F9FFED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6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70962" y="-122116"/>
            <a:ext cx="11122277" cy="3232876"/>
            <a:chOff x="0" y="0"/>
            <a:chExt cx="14829703" cy="431050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t="40656" b="40656"/>
            <a:stretch>
              <a:fillRect/>
            </a:stretch>
          </p:blipFill>
          <p:spPr>
            <a:xfrm>
              <a:off x="0" y="0"/>
              <a:ext cx="14829703" cy="4310501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4503600" y="5786606"/>
            <a:ext cx="9280800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440"/>
              </a:lnSpc>
            </a:pPr>
            <a:r>
              <a:rPr lang="en-US" sz="12000" spc="263">
                <a:solidFill>
                  <a:srgbClr val="F3EAC0"/>
                </a:solidFill>
                <a:latin typeface="IBM Plex Sans" panose="020B0503050203000203"/>
              </a:rPr>
              <a:t>Our Journey</a:t>
            </a:r>
            <a:endParaRPr lang="en-US" sz="12000" spc="263">
              <a:solidFill>
                <a:srgbClr val="F3EAC0"/>
              </a:solidFill>
              <a:latin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472528" y="2181120"/>
            <a:ext cx="4066171" cy="182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>
                <a:solidFill>
                  <a:srgbClr val="F9FFED"/>
                </a:solidFill>
                <a:latin typeface="IBM Plex Sans" panose="020B0503050203000203"/>
              </a:rPr>
              <a:t>Presentations are communication tools that can be used as demonstrations, lectures, speeches, reports, and more. It is mostly presented before an audience.</a:t>
            </a:r>
            <a:endParaRPr lang="en-US" sz="1200">
              <a:solidFill>
                <a:srgbClr val="F9FFED"/>
              </a:solidFill>
              <a:latin typeface="IBM Plex Sans" panose="020B0503050203000203"/>
            </a:endParaRPr>
          </a:p>
          <a:p>
            <a:pPr>
              <a:lnSpc>
                <a:spcPts val="1800"/>
              </a:lnSpc>
            </a:pPr>
          </a:p>
          <a:p>
            <a:pPr>
              <a:lnSpc>
                <a:spcPts val="1800"/>
              </a:lnSpc>
            </a:pPr>
            <a:r>
              <a:rPr lang="en-US" sz="1200">
                <a:solidFill>
                  <a:srgbClr val="F9FFED"/>
                </a:solidFill>
                <a:latin typeface="IBM Plex Sans" panose="020B0503050203000203"/>
              </a:rPr>
              <a:t>To create a stunning presentation, it's best to simplify your thoughts. Start with an outline of topics and identify highlights, which can be applied to whatever subject you plan on discussing.</a:t>
            </a:r>
            <a:endParaRPr lang="en-US" sz="12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441629" y="8077788"/>
            <a:ext cx="3097071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" panose="020B0503050203000203"/>
              </a:rPr>
              <a:t>presentation.com</a:t>
            </a:r>
            <a:endParaRPr lang="en-US" sz="18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IBM Plex Sans" panose="020B0503050203000203"/>
              </a:rPr>
              <a:t>Page / 07</a:t>
            </a:r>
            <a:endParaRPr lang="en-US" sz="1600" spc="96">
              <a:solidFill>
                <a:srgbClr val="F9FFED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16882" y="1090966"/>
            <a:ext cx="8703264" cy="9375074"/>
            <a:chOff x="0" y="0"/>
            <a:chExt cx="8068689" cy="86915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68689" cy="8691517"/>
            </a:xfrm>
            <a:custGeom>
              <a:avLst/>
              <a:gdLst/>
              <a:ahLst/>
              <a:cxnLst/>
              <a:rect l="l" t="t" r="r" b="b"/>
              <a:pathLst>
                <a:path w="8068689" h="8691517">
                  <a:moveTo>
                    <a:pt x="0" y="0"/>
                  </a:moveTo>
                  <a:lnTo>
                    <a:pt x="8068689" y="0"/>
                  </a:lnTo>
                  <a:lnTo>
                    <a:pt x="8068689" y="8691517"/>
                  </a:lnTo>
                  <a:lnTo>
                    <a:pt x="0" y="8691517"/>
                  </a:lnTo>
                  <a:close/>
                </a:path>
              </a:pathLst>
            </a:custGeom>
            <a:solidFill>
              <a:srgbClr val="96815C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6925212" y="2169745"/>
            <a:ext cx="4897343" cy="4970584"/>
            <a:chOff x="0" y="0"/>
            <a:chExt cx="6529790" cy="662744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1"/>
            <a:srcRect l="14616" t="24693" r="3884" b="20161"/>
            <a:stretch>
              <a:fillRect/>
            </a:stretch>
          </p:blipFill>
          <p:spPr>
            <a:xfrm>
              <a:off x="0" y="0"/>
              <a:ext cx="6529790" cy="6627445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-216882" y="-217855"/>
            <a:ext cx="5459076" cy="2919037"/>
            <a:chOff x="0" y="0"/>
            <a:chExt cx="7278768" cy="3892049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37115" t="35305" r="19167" b="29630"/>
            <a:stretch>
              <a:fillRect/>
            </a:stretch>
          </p:blipFill>
          <p:spPr>
            <a:xfrm>
              <a:off x="0" y="0"/>
              <a:ext cx="7278768" cy="3892049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9618115" y="3275737"/>
            <a:ext cx="7641185" cy="2502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20"/>
              </a:lnSpc>
            </a:pPr>
            <a:r>
              <a:rPr lang="en-US" sz="10020">
                <a:solidFill>
                  <a:srgbClr val="000000"/>
                </a:solidFill>
                <a:latin typeface="IBM Plex Sans" panose="020B0503050203000203"/>
              </a:rPr>
              <a:t>Your Brand</a:t>
            </a:r>
            <a:endParaRPr lang="en-US" sz="10020">
              <a:solidFill>
                <a:srgbClr val="000000"/>
              </a:solidFill>
              <a:latin typeface="IBM Plex Sans" panose="020B0503050203000203"/>
            </a:endParaRPr>
          </a:p>
          <a:p>
            <a:pPr algn="r">
              <a:lnSpc>
                <a:spcPts val="9520"/>
              </a:lnSpc>
            </a:pPr>
            <a:r>
              <a:rPr lang="en-US" sz="10020">
                <a:solidFill>
                  <a:srgbClr val="000000"/>
                </a:solidFill>
                <a:latin typeface="IBM Plex Sans" panose="020B0503050203000203"/>
              </a:rPr>
              <a:t>in Our Hand</a:t>
            </a:r>
            <a:endParaRPr lang="en-US" sz="1002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162229" y="7983638"/>
            <a:ext cx="3097071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Poppins Light" panose="00000400000000000000"/>
              </a:rPr>
              <a:t>presentation.com</a:t>
            </a:r>
            <a:endParaRPr lang="en-US" sz="1800">
              <a:solidFill>
                <a:srgbClr val="000000"/>
              </a:solidFill>
              <a:latin typeface="Poppins Light" panose="000004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474914" y="1688084"/>
            <a:ext cx="1784386" cy="27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Poppins Light" panose="00000400000000000000"/>
              </a:rPr>
              <a:t>13/05/2021</a:t>
            </a:r>
            <a:endParaRPr lang="en-US" sz="1800">
              <a:solidFill>
                <a:srgbClr val="000000"/>
              </a:solidFill>
              <a:latin typeface="Poppins Light" panose="000004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9424740"/>
            <a:ext cx="3997064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Poppins Light" panose="00000400000000000000"/>
              </a:rPr>
              <a:t>Page / 08</a:t>
            </a:r>
            <a:endParaRPr lang="en-US" sz="1600" spc="96">
              <a:solidFill>
                <a:srgbClr val="F9FFED"/>
              </a:solidFill>
              <a:latin typeface="Poppins Light" panose="000004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4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570262" y="2929962"/>
            <a:ext cx="3573738" cy="5573348"/>
            <a:chOff x="0" y="0"/>
            <a:chExt cx="4764984" cy="743113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l="4843" r="4843"/>
            <a:stretch>
              <a:fillRect/>
            </a:stretch>
          </p:blipFill>
          <p:spPr>
            <a:xfrm>
              <a:off x="0" y="0"/>
              <a:ext cx="4764984" cy="743113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0">
            <a:off x="13685562" y="3214068"/>
            <a:ext cx="3573738" cy="5573348"/>
            <a:chOff x="0" y="0"/>
            <a:chExt cx="4764984" cy="743113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2909" r="2909"/>
            <a:stretch>
              <a:fillRect/>
            </a:stretch>
          </p:blipFill>
          <p:spPr>
            <a:xfrm>
              <a:off x="0" y="0"/>
              <a:ext cx="4764984" cy="743113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0">
            <a:off x="9710676" y="1028700"/>
            <a:ext cx="3573738" cy="5573348"/>
            <a:chOff x="0" y="0"/>
            <a:chExt cx="4764984" cy="743113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/>
            <a:srcRect l="27452" t="3427" r="16670" b="38477"/>
            <a:stretch>
              <a:fillRect/>
            </a:stretch>
          </p:blipFill>
          <p:spPr>
            <a:xfrm>
              <a:off x="0" y="0"/>
              <a:ext cx="4764984" cy="743113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0">
            <a:off x="5570262" y="8032425"/>
            <a:ext cx="3573738" cy="941770"/>
            <a:chOff x="0" y="0"/>
            <a:chExt cx="5654544" cy="14901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54544" cy="1490114"/>
            </a:xfrm>
            <a:custGeom>
              <a:avLst/>
              <a:gdLst/>
              <a:ahLst/>
              <a:cxnLst/>
              <a:rect l="l" t="t" r="r" b="b"/>
              <a:pathLst>
                <a:path w="5654544" h="1490114">
                  <a:moveTo>
                    <a:pt x="0" y="0"/>
                  </a:moveTo>
                  <a:lnTo>
                    <a:pt x="5654544" y="0"/>
                  </a:lnTo>
                  <a:lnTo>
                    <a:pt x="5654544" y="1490114"/>
                  </a:lnTo>
                  <a:lnTo>
                    <a:pt x="0" y="1490114"/>
                  </a:lnTo>
                  <a:close/>
                </a:path>
              </a:pathLst>
            </a:custGeom>
            <a:solidFill>
              <a:srgbClr val="816F41"/>
            </a:solid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9710676" y="6131163"/>
            <a:ext cx="3573738" cy="941770"/>
            <a:chOff x="0" y="0"/>
            <a:chExt cx="5654544" cy="14901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54544" cy="1490114"/>
            </a:xfrm>
            <a:custGeom>
              <a:avLst/>
              <a:gdLst/>
              <a:ahLst/>
              <a:cxnLst/>
              <a:rect l="l" t="t" r="r" b="b"/>
              <a:pathLst>
                <a:path w="5654544" h="1490114">
                  <a:moveTo>
                    <a:pt x="0" y="0"/>
                  </a:moveTo>
                  <a:lnTo>
                    <a:pt x="5654544" y="0"/>
                  </a:lnTo>
                  <a:lnTo>
                    <a:pt x="5654544" y="1490114"/>
                  </a:lnTo>
                  <a:lnTo>
                    <a:pt x="0" y="1490114"/>
                  </a:lnTo>
                  <a:close/>
                </a:path>
              </a:pathLst>
            </a:custGeom>
            <a:solidFill>
              <a:srgbClr val="816F41"/>
            </a:solidFill>
          </p:spPr>
        </p:sp>
      </p:grpSp>
      <p:grpSp>
        <p:nvGrpSpPr>
          <p:cNvPr id="12" name="Group 12"/>
          <p:cNvGrpSpPr/>
          <p:nvPr/>
        </p:nvGrpSpPr>
        <p:grpSpPr>
          <a:xfrm rot="0">
            <a:off x="13685562" y="8316530"/>
            <a:ext cx="3573738" cy="941770"/>
            <a:chOff x="0" y="0"/>
            <a:chExt cx="5654544" cy="14901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54544" cy="1490114"/>
            </a:xfrm>
            <a:custGeom>
              <a:avLst/>
              <a:gdLst/>
              <a:ahLst/>
              <a:cxnLst/>
              <a:rect l="l" t="t" r="r" b="b"/>
              <a:pathLst>
                <a:path w="5654544" h="1490114">
                  <a:moveTo>
                    <a:pt x="0" y="0"/>
                  </a:moveTo>
                  <a:lnTo>
                    <a:pt x="5654544" y="0"/>
                  </a:lnTo>
                  <a:lnTo>
                    <a:pt x="5654544" y="1490114"/>
                  </a:lnTo>
                  <a:lnTo>
                    <a:pt x="0" y="1490114"/>
                  </a:lnTo>
                  <a:close/>
                </a:path>
              </a:pathLst>
            </a:custGeom>
            <a:solidFill>
              <a:srgbClr val="816F41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10516" y="2949012"/>
            <a:ext cx="4940702" cy="447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770"/>
              </a:lnSpc>
            </a:pPr>
            <a:r>
              <a:rPr lang="en-US" sz="9890" spc="217">
                <a:solidFill>
                  <a:srgbClr val="F3EAC0"/>
                </a:solidFill>
                <a:latin typeface="IBM Plex Sans" panose="020B0503050203000203"/>
              </a:rPr>
              <a:t>MEET </a:t>
            </a:r>
            <a:endParaRPr lang="en-US" sz="9890" spc="217">
              <a:solidFill>
                <a:srgbClr val="F3EAC0"/>
              </a:solidFill>
              <a:latin typeface="IBM Plex Sans" panose="020B0503050203000203"/>
            </a:endParaRPr>
          </a:p>
          <a:p>
            <a:pPr>
              <a:lnSpc>
                <a:spcPts val="11770"/>
              </a:lnSpc>
            </a:pPr>
            <a:r>
              <a:rPr lang="en-US" sz="9890" spc="217">
                <a:solidFill>
                  <a:srgbClr val="F3EAC0"/>
                </a:solidFill>
                <a:latin typeface="IBM Plex Sans" panose="020B0503050203000203"/>
              </a:rPr>
              <a:t>THE </a:t>
            </a:r>
            <a:endParaRPr lang="en-US" sz="9890" spc="217">
              <a:solidFill>
                <a:srgbClr val="F3EAC0"/>
              </a:solidFill>
              <a:latin typeface="IBM Plex Sans" panose="020B0503050203000203"/>
            </a:endParaRPr>
          </a:p>
          <a:p>
            <a:pPr>
              <a:lnSpc>
                <a:spcPts val="11770"/>
              </a:lnSpc>
            </a:pPr>
            <a:r>
              <a:rPr lang="en-US" sz="9890" spc="217">
                <a:solidFill>
                  <a:srgbClr val="F3EAC0"/>
                </a:solidFill>
                <a:latin typeface="IBM Plex Sans" panose="020B0503050203000203"/>
              </a:rPr>
              <a:t>TEAM</a:t>
            </a:r>
            <a:endParaRPr lang="en-US" sz="9890" spc="217">
              <a:solidFill>
                <a:srgbClr val="F3EAC0"/>
              </a:solidFill>
              <a:latin typeface="IBM Plex Sans" panose="020B050305020300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066518" y="8556051"/>
            <a:ext cx="2811825" cy="2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5"/>
              </a:lnSpc>
            </a:pPr>
            <a:r>
              <a:rPr lang="en-US" sz="1705">
                <a:solidFill>
                  <a:srgbClr val="FFFFFF"/>
                </a:solidFill>
                <a:latin typeface="Poppins Medium Bold" panose="02000000000000000000"/>
              </a:rPr>
              <a:t>Soo Jin Ae</a:t>
            </a:r>
            <a:endParaRPr lang="en-US" sz="1705">
              <a:solidFill>
                <a:srgbClr val="FFFFFF"/>
              </a:solidFill>
              <a:latin typeface="Poppins Medium Bold" panose="020000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066518" y="8881568"/>
            <a:ext cx="2811825" cy="21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625">
                <a:solidFill>
                  <a:srgbClr val="FFFFFF"/>
                </a:solidFill>
                <a:latin typeface="Poppins Light" panose="00000400000000000000"/>
              </a:rPr>
              <a:t>Director</a:t>
            </a:r>
            <a:endParaRPr lang="en-US" sz="1625">
              <a:solidFill>
                <a:srgbClr val="FFFFFF"/>
              </a:solidFill>
              <a:latin typeface="Poppins Light" panose="000004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951218" y="8271946"/>
            <a:ext cx="2811825" cy="2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5"/>
              </a:lnSpc>
            </a:pPr>
            <a:r>
              <a:rPr lang="en-US" sz="1705">
                <a:solidFill>
                  <a:srgbClr val="FFFFFF"/>
                </a:solidFill>
                <a:latin typeface="Poppins Medium Bold" panose="02000000000000000000"/>
              </a:rPr>
              <a:t>Murad Naser</a:t>
            </a:r>
            <a:endParaRPr lang="en-US" sz="1705">
              <a:solidFill>
                <a:srgbClr val="FFFFFF"/>
              </a:solidFill>
              <a:latin typeface="Poppins Medium Bold" panose="020000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091633" y="6370683"/>
            <a:ext cx="2811825" cy="2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5"/>
              </a:lnSpc>
            </a:pPr>
            <a:r>
              <a:rPr lang="en-US" sz="1705">
                <a:solidFill>
                  <a:srgbClr val="FFFFFF"/>
                </a:solidFill>
                <a:latin typeface="Poppins Medium Bold" panose="02000000000000000000"/>
              </a:rPr>
              <a:t>Avery Davis</a:t>
            </a:r>
            <a:endParaRPr lang="en-US" sz="1705">
              <a:solidFill>
                <a:srgbClr val="FFFFFF"/>
              </a:solidFill>
              <a:latin typeface="Poppins Medium Bold" panose="020000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951218" y="8597463"/>
            <a:ext cx="2811825" cy="21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625">
                <a:solidFill>
                  <a:srgbClr val="FFFFFF"/>
                </a:solidFill>
                <a:latin typeface="Poppins Light" panose="00000400000000000000"/>
              </a:rPr>
              <a:t>Product Designer</a:t>
            </a:r>
            <a:endParaRPr lang="en-US" sz="1625">
              <a:solidFill>
                <a:srgbClr val="FFFFFF"/>
              </a:solidFill>
              <a:latin typeface="Poppins Light" panose="000004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80753" y="6696201"/>
            <a:ext cx="2811825" cy="21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625">
                <a:solidFill>
                  <a:srgbClr val="FFFFFF"/>
                </a:solidFill>
                <a:latin typeface="Poppins Light" panose="00000400000000000000"/>
              </a:rPr>
              <a:t>Creative DIrector</a:t>
            </a:r>
            <a:endParaRPr lang="en-US" sz="1625">
              <a:solidFill>
                <a:srgbClr val="FFFFFF"/>
              </a:solidFill>
              <a:latin typeface="Poppins Light" panose="000004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9424740"/>
            <a:ext cx="3997064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Poppins Light" panose="00000400000000000000"/>
              </a:rPr>
              <a:t>Page / 09</a:t>
            </a:r>
            <a:endParaRPr lang="en-US" sz="1600" spc="96">
              <a:solidFill>
                <a:srgbClr val="F9FFED"/>
              </a:solidFill>
              <a:latin typeface="Poppins Light" panose="000004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2778" y="9414826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IBM Plex Sans" panose="020B0503050203000203"/>
              </a:rPr>
              <a:t>Page / 10</a:t>
            </a:r>
            <a:endParaRPr lang="en-US" sz="1600" spc="96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724950" y="4395011"/>
            <a:ext cx="524603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3000">
                <a:solidFill>
                  <a:srgbClr val="F9FFED"/>
                </a:solidFill>
                <a:latin typeface="IBM Plex Sans" panose="020B0503050203000203"/>
              </a:rPr>
              <a:t>STRENGTHS</a:t>
            </a:r>
            <a:endParaRPr lang="en-US" sz="30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24950" y="5003481"/>
            <a:ext cx="3521213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F9FFED"/>
                </a:solidFill>
                <a:latin typeface="IBM Plex Sans" panose="020B0503050203000203"/>
              </a:rPr>
              <a:t>What advantages does your company have? What do you do better than anyone else? What are your unique selling points?</a:t>
            </a:r>
            <a:endParaRPr lang="en-US" sz="1200" spc="-18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24950" y="6779288"/>
            <a:ext cx="524603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3000">
                <a:solidFill>
                  <a:srgbClr val="F9FFED"/>
                </a:solidFill>
                <a:latin typeface="IBM Plex Sans" panose="020B0503050203000203"/>
              </a:rPr>
              <a:t>WEAKNESSES</a:t>
            </a:r>
            <a:endParaRPr lang="en-US" sz="30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724950" y="7387758"/>
            <a:ext cx="3521213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F9FFED"/>
                </a:solidFill>
                <a:latin typeface="IBM Plex Sans" panose="020B0503050203000203"/>
              </a:rPr>
              <a:t>What areas can you improve on? What does your company lack? What things do your competitors do better than you?</a:t>
            </a:r>
            <a:endParaRPr lang="en-US" sz="1200" spc="-18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21447" y="4395011"/>
            <a:ext cx="643785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3000">
                <a:solidFill>
                  <a:srgbClr val="F9FFED"/>
                </a:solidFill>
                <a:latin typeface="IBM Plex Sans" panose="020B0503050203000203"/>
              </a:rPr>
              <a:t>OPPORTUNITIES</a:t>
            </a:r>
            <a:endParaRPr lang="en-US" sz="30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821447" y="5085146"/>
            <a:ext cx="3833049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F9FFED"/>
                </a:solidFill>
                <a:latin typeface="IBM Plex Sans" panose="020B0503050203000203"/>
              </a:rPr>
              <a:t>What changes in technology, policies, and social patterns</a:t>
            </a:r>
            <a:endParaRPr lang="en-US" sz="1200" spc="-18">
              <a:solidFill>
                <a:srgbClr val="F9FFED"/>
              </a:solidFill>
              <a:latin typeface="IBM Plex Sans" panose="020B0503050203000203"/>
            </a:endParaRPr>
          </a:p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F9FFED"/>
                </a:solidFill>
                <a:latin typeface="IBM Plex Sans" panose="020B0503050203000203"/>
              </a:rPr>
              <a:t>can be a growth opportunity for the company?</a:t>
            </a:r>
            <a:endParaRPr lang="en-US" sz="1200" spc="-18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821447" y="6779288"/>
            <a:ext cx="6437853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00"/>
              </a:lnSpc>
            </a:pPr>
            <a:r>
              <a:rPr lang="en-US" sz="3000">
                <a:solidFill>
                  <a:srgbClr val="F9FFED"/>
                </a:solidFill>
                <a:latin typeface="IBM Plex Sans" panose="020B0503050203000203"/>
              </a:rPr>
              <a:t>THREATS</a:t>
            </a:r>
            <a:endParaRPr lang="en-US" sz="30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821447" y="7387758"/>
            <a:ext cx="3716416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F9FFED"/>
                </a:solidFill>
                <a:latin typeface="IBM Plex Sans" panose="020B0503050203000203"/>
              </a:rPr>
              <a:t>What are the obstacles to your company’s growth? Who are your competitors? What changing factors can threaten your company's position?</a:t>
            </a:r>
            <a:endParaRPr lang="en-US" sz="1200" spc="-18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01524" y="1862526"/>
            <a:ext cx="14338919" cy="1255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0"/>
              </a:lnSpc>
            </a:pPr>
            <a:r>
              <a:rPr lang="en-US" sz="10400" spc="228">
                <a:solidFill>
                  <a:srgbClr val="F9FFED"/>
                </a:solidFill>
                <a:latin typeface="IBM Plex Sans" panose="020B0503050203000203"/>
              </a:rPr>
              <a:t>SWOT ANALYSIS</a:t>
            </a:r>
            <a:endParaRPr lang="en-US" sz="10400" spc="228">
              <a:solidFill>
                <a:srgbClr val="F9FFED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A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8687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11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31491" y="1114425"/>
            <a:ext cx="5978142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spc="107">
                <a:solidFill>
                  <a:srgbClr val="000000"/>
                </a:solidFill>
                <a:latin typeface="IBM Plex Sans" panose="020B0503050203000203"/>
              </a:rPr>
              <a:t>OUR</a:t>
            </a:r>
            <a:endParaRPr lang="en-US" sz="9000" spc="107">
              <a:solidFill>
                <a:srgbClr val="000000"/>
              </a:solidFill>
              <a:latin typeface="IBM Plex Sans" panose="020B0503050203000203"/>
            </a:endParaRPr>
          </a:p>
          <a:p>
            <a:pPr marL="0" lvl="0" indent="0">
              <a:lnSpc>
                <a:spcPts val="9900"/>
              </a:lnSpc>
            </a:pPr>
            <a:r>
              <a:rPr lang="en-US" sz="9000" spc="108">
                <a:solidFill>
                  <a:srgbClr val="000000"/>
                </a:solidFill>
                <a:latin typeface="IBM Plex Sans" panose="020B0503050203000203"/>
              </a:rPr>
              <a:t>PROCESS</a:t>
            </a:r>
            <a:endParaRPr lang="en-US" sz="9000" spc="108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397043" y="1643323"/>
            <a:ext cx="4521546" cy="54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000000"/>
                </a:solidFill>
                <a:latin typeface="IBM Plex Sans" panose="020B0503050203000203"/>
              </a:rPr>
              <a:t>STRATEGY</a:t>
            </a:r>
            <a:endParaRPr lang="en-US" sz="40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397043" y="2616248"/>
            <a:ext cx="3572575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Strategy is how your methods, time, and resources come into play to fulfill your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company mission and vision.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97043" y="4294721"/>
            <a:ext cx="4521546" cy="54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000000"/>
                </a:solidFill>
                <a:latin typeface="IBM Plex Sans" panose="020B0503050203000203"/>
              </a:rPr>
              <a:t>TACTICS</a:t>
            </a:r>
            <a:endParaRPr lang="en-US" sz="40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397043" y="5267646"/>
            <a:ext cx="4521546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Tactics are the specific methods, resources,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and techniques you will need to accomplish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your strategy.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397043" y="6970664"/>
            <a:ext cx="4521546" cy="54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4000">
                <a:solidFill>
                  <a:srgbClr val="000000"/>
                </a:solidFill>
                <a:latin typeface="IBM Plex Sans" panose="020B0503050203000203"/>
              </a:rPr>
              <a:t>EXECUTION</a:t>
            </a:r>
            <a:endParaRPr lang="en-US" sz="40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397043" y="7943589"/>
            <a:ext cx="3387544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-18">
                <a:solidFill>
                  <a:srgbClr val="000000"/>
                </a:solidFill>
                <a:latin typeface="IBM Plex Sans" panose="020B0503050203000203"/>
              </a:rPr>
              <a:t>Execution is how you will employ the tactics you’ve chosen. It includes measurable outcomes, such as timelines and deliverables.</a:t>
            </a:r>
            <a:endParaRPr lang="en-US" sz="1200" spc="-18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7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130801" y="0"/>
            <a:ext cx="10157199" cy="10287000"/>
            <a:chOff x="0" y="0"/>
            <a:chExt cx="7016876" cy="7106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16876" cy="7106546"/>
            </a:xfrm>
            <a:custGeom>
              <a:avLst/>
              <a:gdLst/>
              <a:ahLst/>
              <a:cxnLst/>
              <a:rect l="l" t="t" r="r" b="b"/>
              <a:pathLst>
                <a:path w="7016876" h="7106546">
                  <a:moveTo>
                    <a:pt x="0" y="0"/>
                  </a:moveTo>
                  <a:lnTo>
                    <a:pt x="7016876" y="0"/>
                  </a:lnTo>
                  <a:lnTo>
                    <a:pt x="7016876" y="7106546"/>
                  </a:lnTo>
                  <a:lnTo>
                    <a:pt x="0" y="7106546"/>
                  </a:lnTo>
                  <a:close/>
                </a:path>
              </a:pathLst>
            </a:custGeom>
            <a:solidFill>
              <a:srgbClr val="455169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928687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12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56115" y="6175392"/>
            <a:ext cx="3939299" cy="77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demonstrations, lectures, speeches, reports, and more. It is mostly presented before an audience.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24095" y="1114425"/>
            <a:ext cx="5847033" cy="254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US" sz="9000" spc="107">
                <a:solidFill>
                  <a:srgbClr val="000000"/>
                </a:solidFill>
                <a:latin typeface="IBM Plex Sans" panose="020B0503050203000203"/>
              </a:rPr>
              <a:t>OUR</a:t>
            </a:r>
            <a:endParaRPr lang="en-US" sz="9000" spc="107">
              <a:solidFill>
                <a:srgbClr val="000000"/>
              </a:solidFill>
              <a:latin typeface="IBM Plex Sans" panose="020B0503050203000203"/>
            </a:endParaRPr>
          </a:p>
          <a:p>
            <a:pPr marL="0" lvl="0" indent="0">
              <a:lnSpc>
                <a:spcPts val="9900"/>
              </a:lnSpc>
            </a:pPr>
            <a:r>
              <a:rPr lang="en-US" sz="9000" spc="108">
                <a:solidFill>
                  <a:srgbClr val="000000"/>
                </a:solidFill>
                <a:latin typeface="IBM Plex Sans" panose="020B0503050203000203"/>
              </a:rPr>
              <a:t>PROJECT</a:t>
            </a:r>
            <a:endParaRPr lang="en-US" sz="9000" spc="108">
              <a:solidFill>
                <a:srgbClr val="000000"/>
              </a:solidFill>
              <a:latin typeface="IBM Plex Sans" panose="020B0503050203000203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10046841" y="4643155"/>
            <a:ext cx="7212459" cy="4615145"/>
            <a:chOff x="0" y="0"/>
            <a:chExt cx="9616612" cy="6153527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1"/>
            <a:srcRect t="2008" b="2008"/>
            <a:stretch>
              <a:fillRect/>
            </a:stretch>
          </p:blipFill>
          <p:spPr>
            <a:xfrm>
              <a:off x="0" y="0"/>
              <a:ext cx="9616612" cy="6153527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 rot="0">
            <a:off x="8111751" y="1028700"/>
            <a:ext cx="3435144" cy="4507987"/>
            <a:chOff x="0" y="0"/>
            <a:chExt cx="4580191" cy="601065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rcRect t="6256" b="6256"/>
            <a:stretch>
              <a:fillRect/>
            </a:stretch>
          </p:blipFill>
          <p:spPr>
            <a:xfrm>
              <a:off x="0" y="0"/>
              <a:ext cx="4580191" cy="601065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14439935" y="3806454"/>
            <a:ext cx="2819365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40"/>
              </a:lnSpc>
            </a:pPr>
            <a:r>
              <a:rPr lang="en-US" sz="2400" spc="28">
                <a:solidFill>
                  <a:srgbClr val="FFFFFF"/>
                </a:solidFill>
                <a:latin typeface="IBM Plex Sans" panose="020B0503050203000203"/>
              </a:rPr>
              <a:t>PROJECT . 01</a:t>
            </a:r>
            <a:endParaRPr lang="en-US" sz="2400" spc="28">
              <a:solidFill>
                <a:srgbClr val="FFFFFF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45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205949" y="-166037"/>
            <a:ext cx="13179750" cy="10633242"/>
            <a:chOff x="0" y="0"/>
            <a:chExt cx="17573000" cy="141776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 t="23107" b="23107"/>
            <a:stretch>
              <a:fillRect/>
            </a:stretch>
          </p:blipFill>
          <p:spPr>
            <a:xfrm>
              <a:off x="0" y="0"/>
              <a:ext cx="17573000" cy="14177657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7145468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IBM Plex Sans" panose="020B0503050203000203"/>
              </a:rPr>
              <a:t>Page / 13</a:t>
            </a:r>
            <a:endParaRPr lang="en-US" sz="1600" spc="96">
              <a:solidFill>
                <a:srgbClr val="F9FFED"/>
              </a:solidFill>
              <a:latin typeface="IBM Plex Sans" panose="020B0503050203000203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1493472" y="959529"/>
            <a:ext cx="5765828" cy="3382829"/>
            <a:chOff x="0" y="0"/>
            <a:chExt cx="7687770" cy="451043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7551" t="23045" r="7134" b="42625"/>
            <a:stretch>
              <a:fillRect/>
            </a:stretch>
          </p:blipFill>
          <p:spPr>
            <a:xfrm>
              <a:off x="0" y="0"/>
              <a:ext cx="7687770" cy="4510439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3074951" y="2669994"/>
            <a:ext cx="2819365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40"/>
              </a:lnSpc>
            </a:pPr>
            <a:r>
              <a:rPr lang="en-US" sz="2400" spc="28">
                <a:solidFill>
                  <a:srgbClr val="F9FFED"/>
                </a:solidFill>
                <a:latin typeface="IBM Plex Sans" panose="020B0503050203000203"/>
              </a:rPr>
              <a:t>PROJECT . 02</a:t>
            </a:r>
            <a:endParaRPr lang="en-US" sz="2400" spc="28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58756" y="5939070"/>
            <a:ext cx="10776296" cy="161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2430"/>
              </a:lnSpc>
            </a:pPr>
            <a:r>
              <a:rPr lang="en-US" sz="11300" spc="135">
                <a:solidFill>
                  <a:srgbClr val="F9FFED"/>
                </a:solidFill>
                <a:latin typeface="IBM Plex Sans" panose="020B0503050203000203"/>
              </a:rPr>
              <a:t>OUR </a:t>
            </a:r>
            <a:r>
              <a:rPr lang="en-US" sz="11300" spc="135">
                <a:solidFill>
                  <a:srgbClr val="F9FFED"/>
                </a:solidFill>
                <a:latin typeface="IBM Plex Sans" panose="020B0503050203000203"/>
              </a:rPr>
              <a:t>PROJECT</a:t>
            </a:r>
            <a:endParaRPr lang="en-US" sz="11300" spc="135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71670" y="4121760"/>
            <a:ext cx="3097071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 Bold" panose="020B0803050203000203"/>
              </a:rPr>
              <a:t>Creative</a:t>
            </a:r>
            <a:endParaRPr lang="en-US" sz="1800">
              <a:solidFill>
                <a:srgbClr val="F9FFED"/>
              </a:solidFill>
              <a:latin typeface="IBM Plex Sans Bold" panose="020B0803050203000203"/>
            </a:endParaRPr>
          </a:p>
          <a:p>
            <a:pPr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 Bold" panose="020B0803050203000203"/>
              </a:rPr>
              <a:t>Presentation</a:t>
            </a:r>
            <a:endParaRPr lang="en-US" sz="1800">
              <a:solidFill>
                <a:srgbClr val="F9FFED"/>
              </a:solidFill>
              <a:latin typeface="IBM Plex Sans Bold" panose="020B080305020300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1372327" cy="10287000"/>
            <a:chOff x="0" y="0"/>
            <a:chExt cx="7856320" cy="71065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56320" cy="7106546"/>
            </a:xfrm>
            <a:custGeom>
              <a:avLst/>
              <a:gdLst/>
              <a:ahLst/>
              <a:cxnLst/>
              <a:rect l="l" t="t" r="r" b="b"/>
              <a:pathLst>
                <a:path w="7856320" h="7106546">
                  <a:moveTo>
                    <a:pt x="0" y="0"/>
                  </a:moveTo>
                  <a:lnTo>
                    <a:pt x="7856320" y="0"/>
                  </a:lnTo>
                  <a:lnTo>
                    <a:pt x="7856320" y="7106546"/>
                  </a:lnTo>
                  <a:lnTo>
                    <a:pt x="0" y="7106546"/>
                  </a:lnTo>
                  <a:close/>
                </a:path>
              </a:pathLst>
            </a:custGeom>
            <a:solidFill>
              <a:srgbClr val="1F151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7145468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spc="96">
                <a:solidFill>
                  <a:srgbClr val="F9FFED"/>
                </a:solidFill>
                <a:latin typeface="IBM Plex Sans" panose="020B0503050203000203"/>
              </a:rPr>
              <a:t>Page / 14</a:t>
            </a:r>
            <a:endParaRPr lang="en-US" sz="1600" spc="96">
              <a:solidFill>
                <a:srgbClr val="F9FFED"/>
              </a:solidFill>
              <a:latin typeface="IBM Plex Sans" panose="020B0503050203000203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1372327" y="8063631"/>
            <a:ext cx="6915673" cy="2223369"/>
            <a:chOff x="0" y="0"/>
            <a:chExt cx="4777540" cy="15359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7540" cy="1535965"/>
            </a:xfrm>
            <a:custGeom>
              <a:avLst/>
              <a:gdLst/>
              <a:ahLst/>
              <a:cxnLst/>
              <a:rect l="l" t="t" r="r" b="b"/>
              <a:pathLst>
                <a:path w="4777540" h="1535965">
                  <a:moveTo>
                    <a:pt x="0" y="0"/>
                  </a:moveTo>
                  <a:lnTo>
                    <a:pt x="4777540" y="0"/>
                  </a:lnTo>
                  <a:lnTo>
                    <a:pt x="4777540" y="1535965"/>
                  </a:lnTo>
                  <a:lnTo>
                    <a:pt x="0" y="1535965"/>
                  </a:lnTo>
                  <a:close/>
                </a:path>
              </a:pathLst>
            </a:custGeom>
            <a:solidFill>
              <a:srgbClr val="816F41"/>
            </a:solidFill>
          </p:spPr>
        </p:sp>
      </p:grpSp>
      <p:grpSp>
        <p:nvGrpSpPr>
          <p:cNvPr id="7" name="Group 7"/>
          <p:cNvGrpSpPr/>
          <p:nvPr/>
        </p:nvGrpSpPr>
        <p:grpSpPr>
          <a:xfrm rot="0">
            <a:off x="0" y="-130507"/>
            <a:ext cx="6711423" cy="10417507"/>
            <a:chOff x="0" y="0"/>
            <a:chExt cx="8948563" cy="13890009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1"/>
            <a:srcRect l="7145" r="7145"/>
            <a:stretch>
              <a:fillRect/>
            </a:stretch>
          </p:blipFill>
          <p:spPr>
            <a:xfrm>
              <a:off x="0" y="0"/>
              <a:ext cx="8948563" cy="13890009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 rot="0">
            <a:off x="13094539" y="-130507"/>
            <a:ext cx="3471249" cy="4106145"/>
            <a:chOff x="0" y="0"/>
            <a:chExt cx="4628332" cy="547486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rcRect t="10569" b="10569"/>
            <a:stretch>
              <a:fillRect/>
            </a:stretch>
          </p:blipFill>
          <p:spPr>
            <a:xfrm>
              <a:off x="0" y="0"/>
              <a:ext cx="4628332" cy="547486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 rot="0">
            <a:off x="4886870" y="1254425"/>
            <a:ext cx="3793319" cy="3759102"/>
            <a:chOff x="0" y="0"/>
            <a:chExt cx="5057758" cy="5012136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/>
            <a:srcRect t="18664" b="7011"/>
            <a:stretch>
              <a:fillRect/>
            </a:stretch>
          </p:blipFill>
          <p:spPr>
            <a:xfrm>
              <a:off x="0" y="0"/>
              <a:ext cx="5057758" cy="5012136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9144000" y="1235375"/>
            <a:ext cx="2634428" cy="584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" panose="020B0503050203000203"/>
              </a:rPr>
              <a:t>Creative</a:t>
            </a:r>
            <a:endParaRPr lang="en-US" sz="1800">
              <a:solidFill>
                <a:srgbClr val="F9FFED"/>
              </a:solidFill>
              <a:latin typeface="IBM Plex Sans" panose="020B0503050203000203"/>
            </a:endParaRPr>
          </a:p>
          <a:p>
            <a:pPr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" panose="020B0503050203000203"/>
              </a:rPr>
              <a:t>Presentation</a:t>
            </a:r>
            <a:endParaRPr lang="en-US" sz="18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516605" y="8886136"/>
            <a:ext cx="3097071" cy="30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60"/>
              </a:lnSpc>
            </a:pPr>
            <a:r>
              <a:rPr lang="en-US" sz="1800">
                <a:solidFill>
                  <a:srgbClr val="F9FFED"/>
                </a:solidFill>
                <a:latin typeface="IBM Plex Sans" panose="020B0503050203000203"/>
              </a:rPr>
              <a:t>presentation.com</a:t>
            </a:r>
            <a:endParaRPr lang="en-US" sz="1800">
              <a:solidFill>
                <a:srgbClr val="F9FFED"/>
              </a:solidFill>
              <a:latin typeface="IBM Plex Sans" panose="020B050305020300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022852" y="5733854"/>
            <a:ext cx="991903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750"/>
              </a:lnSpc>
            </a:pPr>
            <a:r>
              <a:rPr lang="en-US" sz="12500" spc="150">
                <a:solidFill>
                  <a:srgbClr val="F9FFED"/>
                </a:solidFill>
                <a:latin typeface="IBM Plex Sans" panose="020B0503050203000203"/>
              </a:rPr>
              <a:t>PORTFOLIO</a:t>
            </a:r>
            <a:endParaRPr lang="en-US" sz="12500" spc="150">
              <a:solidFill>
                <a:srgbClr val="F9FFED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17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2937561" y="3794948"/>
            <a:ext cx="3177279" cy="3122556"/>
            <a:chOff x="0" y="0"/>
            <a:chExt cx="4236372" cy="416340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"/>
            <a:srcRect t="17199" b="17199"/>
            <a:stretch>
              <a:fillRect/>
            </a:stretch>
          </p:blipFill>
          <p:spPr>
            <a:xfrm>
              <a:off x="0" y="0"/>
              <a:ext cx="4236372" cy="4163408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 rot="0">
            <a:off x="7411403" y="3794948"/>
            <a:ext cx="3177279" cy="3122556"/>
            <a:chOff x="0" y="0"/>
            <a:chExt cx="4236372" cy="4163408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20889" t="22497" r="22528" b="40385"/>
            <a:stretch>
              <a:fillRect/>
            </a:stretch>
          </p:blipFill>
          <p:spPr>
            <a:xfrm>
              <a:off x="0" y="0"/>
              <a:ext cx="4236372" cy="4163408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0">
            <a:off x="11885244" y="3794948"/>
            <a:ext cx="3177279" cy="3122556"/>
            <a:chOff x="0" y="0"/>
            <a:chExt cx="4236372" cy="4163408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 t="17240" b="17240"/>
            <a:stretch>
              <a:fillRect/>
            </a:stretch>
          </p:blipFill>
          <p:spPr>
            <a:xfrm>
              <a:off x="0" y="0"/>
              <a:ext cx="4236372" cy="4163408"/>
            </a:xfrm>
            <a:prstGeom prst="rect">
              <a:avLst/>
            </a:prstGeom>
          </p:spPr>
        </p:pic>
      </p:grpSp>
      <p:sp>
        <p:nvSpPr>
          <p:cNvPr id="9" name="TextBox 9"/>
          <p:cNvSpPr txBox="1"/>
          <p:nvPr/>
        </p:nvSpPr>
        <p:spPr>
          <a:xfrm>
            <a:off x="2937561" y="7414213"/>
            <a:ext cx="309369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400">
                <a:solidFill>
                  <a:srgbClr val="000000"/>
                </a:solidFill>
                <a:latin typeface="IBM Plex Sans" panose="020B0503050203000203"/>
              </a:rPr>
              <a:t>Olivia Wilson</a:t>
            </a:r>
            <a:endParaRPr lang="en-US" sz="24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64982" y="7414213"/>
            <a:ext cx="309369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400">
                <a:solidFill>
                  <a:srgbClr val="000000"/>
                </a:solidFill>
                <a:latin typeface="IBM Plex Sans" panose="020B0503050203000203"/>
              </a:rPr>
              <a:t>Juliana Silva</a:t>
            </a:r>
            <a:endParaRPr lang="en-US" sz="24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912034" y="7414213"/>
            <a:ext cx="309369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400">
                <a:solidFill>
                  <a:srgbClr val="000000"/>
                </a:solidFill>
                <a:latin typeface="IBM Plex Sans" panose="020B0503050203000203"/>
              </a:rPr>
              <a:t>Margarita Perez</a:t>
            </a:r>
            <a:endParaRPr lang="en-US" sz="24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937561" y="8030490"/>
            <a:ext cx="3177279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64982" y="8030490"/>
            <a:ext cx="346519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885244" y="8030490"/>
            <a:ext cx="346519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Presentations are communication tools that can be use</a:t>
            </a:r>
            <a:r>
              <a:rPr lang="en-US" sz="1200">
                <a:solidFill>
                  <a:srgbClr val="000000"/>
                </a:solidFill>
                <a:latin typeface="IBM Plex Sans" panose="020B0503050203000203"/>
              </a:rPr>
              <a:t>d as demonstrations.</a:t>
            </a:r>
            <a:endParaRPr lang="en-US" sz="12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37561" y="1114425"/>
            <a:ext cx="9412034" cy="1251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700"/>
              </a:lnSpc>
            </a:pPr>
            <a:r>
              <a:rPr lang="en-US" sz="8820" spc="105">
                <a:solidFill>
                  <a:srgbClr val="1F1512"/>
                </a:solidFill>
                <a:latin typeface="IBM Plex Sans" panose="020B0503050203000203"/>
              </a:rPr>
              <a:t>TESTIMONIAL</a:t>
            </a:r>
            <a:endParaRPr lang="en-US" sz="8820" spc="105">
              <a:solidFill>
                <a:srgbClr val="1F1512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C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262236" y="9434265"/>
            <a:ext cx="3997064" cy="212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spc="96">
                <a:solidFill>
                  <a:srgbClr val="000000"/>
                </a:solidFill>
                <a:latin typeface="IBM Plex Sans" panose="020B0503050203000203"/>
              </a:rPr>
              <a:t>Page / 19</a:t>
            </a:r>
            <a:endParaRPr lang="en-US" sz="1600" spc="96">
              <a:solidFill>
                <a:srgbClr val="000000"/>
              </a:solidFill>
              <a:latin typeface="IBM Plex Sans" panose="020B0503050203000203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-207496" y="0"/>
            <a:ext cx="8884925" cy="10287000"/>
            <a:chOff x="0" y="0"/>
            <a:chExt cx="5099046" cy="59036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99046" cy="5903695"/>
            </a:xfrm>
            <a:custGeom>
              <a:avLst/>
              <a:gdLst/>
              <a:ahLst/>
              <a:cxnLst/>
              <a:rect l="l" t="t" r="r" b="b"/>
              <a:pathLst>
                <a:path w="5099046" h="5903695">
                  <a:moveTo>
                    <a:pt x="0" y="0"/>
                  </a:moveTo>
                  <a:lnTo>
                    <a:pt x="5099046" y="0"/>
                  </a:lnTo>
                  <a:lnTo>
                    <a:pt x="5099046" y="5903695"/>
                  </a:lnTo>
                  <a:lnTo>
                    <a:pt x="0" y="5903695"/>
                  </a:lnTo>
                  <a:close/>
                </a:path>
              </a:pathLst>
            </a:custGeom>
            <a:solidFill>
              <a:srgbClr val="96815C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66408" y="1223327"/>
            <a:ext cx="617760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>
                <a:solidFill>
                  <a:srgbClr val="000000"/>
                </a:solidFill>
                <a:latin typeface="IBM Plex Sans" panose="020B0503050203000203"/>
              </a:rPr>
              <a:t>CONTACT US</a:t>
            </a:r>
            <a:endParaRPr lang="en-US" sz="60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378065"/>
            <a:ext cx="5732277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  <a:spcBef>
                <a:spcPct val="0"/>
              </a:spcBef>
            </a:pPr>
            <a:r>
              <a:rPr lang="en-US" sz="1700" spc="-25">
                <a:solidFill>
                  <a:srgbClr val="000000"/>
                </a:solidFill>
                <a:latin typeface="IBM Plex Sans" panose="020B0503050203000203"/>
              </a:rPr>
              <a:t>123-456-7890</a:t>
            </a:r>
            <a:endParaRPr lang="en-US" sz="1700" spc="-25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66408" y="7988514"/>
            <a:ext cx="573227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  <a:spcBef>
                <a:spcPct val="0"/>
              </a:spcBef>
            </a:pPr>
            <a:r>
              <a:rPr lang="en-US" sz="1700" spc="-25">
                <a:solidFill>
                  <a:srgbClr val="000000"/>
                </a:solidFill>
                <a:latin typeface="IBM Plex Sans" panose="020B0503050203000203"/>
              </a:rPr>
              <a:t>hello@presentation.com</a:t>
            </a:r>
            <a:endParaRPr lang="en-US" sz="1700" spc="-25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66408" y="8517321"/>
            <a:ext cx="5732277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  <a:spcBef>
                <a:spcPct val="0"/>
              </a:spcBef>
            </a:pPr>
            <a:r>
              <a:rPr lang="en-US" sz="1700" spc="-25">
                <a:solidFill>
                  <a:srgbClr val="000000"/>
                </a:solidFill>
                <a:latin typeface="IBM Plex Sans" panose="020B0503050203000203"/>
              </a:rPr>
              <a:t>www.presentation.com</a:t>
            </a:r>
            <a:endParaRPr lang="en-US" sz="1700" spc="-25">
              <a:solidFill>
                <a:srgbClr val="000000"/>
              </a:solidFill>
              <a:latin typeface="IBM Plex Sans" panose="020B0503050203000203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6384684" y="4313105"/>
            <a:ext cx="11903316" cy="4607441"/>
            <a:chOff x="0" y="0"/>
            <a:chExt cx="15871087" cy="6143255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1"/>
            <a:srcRect t="37097" b="37097"/>
            <a:stretch>
              <a:fillRect/>
            </a:stretch>
          </p:blipFill>
          <p:spPr>
            <a:xfrm>
              <a:off x="0" y="0"/>
              <a:ext cx="15871087" cy="6143255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14162229" y="1070927"/>
            <a:ext cx="3097071" cy="102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00">
                <a:solidFill>
                  <a:srgbClr val="000000"/>
                </a:solidFill>
                <a:latin typeface="IBM Plex Sans" panose="020B0503050203000203"/>
              </a:rPr>
              <a:t>Creative</a:t>
            </a:r>
            <a:endParaRPr lang="en-US" sz="2100">
              <a:solidFill>
                <a:srgbClr val="000000"/>
              </a:solidFill>
              <a:latin typeface="IBM Plex Sans" panose="020B0503050203000203"/>
            </a:endParaRPr>
          </a:p>
          <a:p>
            <a:pPr algn="r">
              <a:lnSpc>
                <a:spcPts val="2750"/>
              </a:lnSpc>
            </a:pPr>
            <a:r>
              <a:rPr lang="en-US" sz="2100">
                <a:solidFill>
                  <a:srgbClr val="000000"/>
                </a:solidFill>
                <a:latin typeface="IBM Plex Sans" panose="020B0503050203000203"/>
              </a:rPr>
              <a:t>Brand</a:t>
            </a:r>
            <a:endParaRPr lang="en-US" sz="2100">
              <a:solidFill>
                <a:srgbClr val="000000"/>
              </a:solidFill>
              <a:latin typeface="IBM Plex Sans" panose="020B0503050203000203"/>
            </a:endParaRPr>
          </a:p>
          <a:p>
            <a:pPr algn="r">
              <a:lnSpc>
                <a:spcPts val="2750"/>
              </a:lnSpc>
            </a:pPr>
            <a:r>
              <a:rPr lang="en-US" sz="2100">
                <a:solidFill>
                  <a:srgbClr val="000000"/>
                </a:solidFill>
                <a:latin typeface="IBM Plex Sans" panose="020B0503050203000203"/>
              </a:rPr>
              <a:t>Presentation</a:t>
            </a:r>
            <a:endParaRPr lang="en-US" sz="2100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93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10197" y="6687756"/>
            <a:ext cx="11267606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00000"/>
                </a:solidFill>
                <a:latin typeface="IBM Plex Sans" panose="020B0503050203000203"/>
              </a:rPr>
              <a:t>THANK YOU</a:t>
            </a:r>
            <a:endParaRPr lang="en-US" sz="120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960301" y="1160937"/>
            <a:ext cx="3097071" cy="685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0"/>
              </a:lnSpc>
            </a:pPr>
            <a:r>
              <a:rPr lang="en-US" sz="2100">
                <a:solidFill>
                  <a:srgbClr val="000000"/>
                </a:solidFill>
                <a:latin typeface="IBM Plex Sans" panose="020B0503050203000203"/>
              </a:rPr>
              <a:t>Creative</a:t>
            </a:r>
            <a:endParaRPr lang="en-US" sz="2100">
              <a:solidFill>
                <a:srgbClr val="000000"/>
              </a:solidFill>
              <a:latin typeface="IBM Plex Sans" panose="020B0503050203000203"/>
            </a:endParaRPr>
          </a:p>
          <a:p>
            <a:pPr algn="r">
              <a:lnSpc>
                <a:spcPts val="2750"/>
              </a:lnSpc>
            </a:pPr>
            <a:r>
              <a:rPr lang="en-US" sz="2100">
                <a:solidFill>
                  <a:srgbClr val="000000"/>
                </a:solidFill>
                <a:latin typeface="IBM Plex Sans" panose="020B0503050203000203"/>
              </a:rPr>
              <a:t>Presentation</a:t>
            </a:r>
            <a:endParaRPr lang="en-US" sz="2100">
              <a:solidFill>
                <a:srgbClr val="000000"/>
              </a:solidFill>
              <a:latin typeface="IBM Plex Sans" panose="020B05030502030002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8969121"/>
            <a:ext cx="3097071" cy="907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1800">
                <a:solidFill>
                  <a:srgbClr val="000000"/>
                </a:solidFill>
                <a:latin typeface="IBM Plex Sans" panose="020B0503050203000203"/>
              </a:rPr>
              <a:t>https://v.youku.com/v_show/id_XNTg4OTcwMDM3Ng==.html</a:t>
            </a:r>
            <a:endParaRPr lang="en-US" sz="1800">
              <a:solidFill>
                <a:srgbClr val="000000"/>
              </a:solidFill>
              <a:latin typeface="IBM Plex Sans" panose="020B05030502030002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DAxMTM5MzFhOWUwODJiZjcwZWJkMjJmM2RlYzNhN2QifQ=="/>
</p:tagLst>
</file>

<file path=ppt/theme/theme1.xml><?xml version="1.0" encoding="utf-8"?>
<a:theme xmlns:a="http://schemas.openxmlformats.org/drawingml/2006/main" name="https://v.youku.com/v_show/id_XNTg4OTcwMDM3Ng==.html&#13;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3532</Words>
  <Application>WPS 演示</Application>
  <PresentationFormat>On-screen Show (4:3)</PresentationFormat>
  <Paragraphs>195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IBM Plex Sans</vt:lpstr>
      <vt:lpstr>IBM Plex Sans Bold</vt:lpstr>
      <vt:lpstr>Poppins Light</vt:lpstr>
      <vt:lpstr>Poppins Medium Bold</vt:lpstr>
      <vt:lpstr>微软雅黑</vt:lpstr>
      <vt:lpstr>Arial Unicode MS</vt:lpstr>
      <vt:lpstr>Calibri</vt:lpstr>
      <vt:lpstr>https://v.youku.com/v_show/id_XNTg4OTcwMDM3Ng==.html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3</cp:revision>
  <dcterms:created xsi:type="dcterms:W3CDTF">2006-08-16T00:00:00Z</dcterms:created>
  <dcterms:modified xsi:type="dcterms:W3CDTF">2022-09-28T01:58:47Z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0728AD6DC4D9487388BFBF41F1BCD1DA</vt:lpwstr>
  </property>
  <property fmtid="{D5CDD505-2E9C-101B-9397-08002B2CF9AE}" pid="3" name="KSOProductBuildVer">
    <vt:lpwstr>2052-11.1.0.12358</vt:lpwstr>
  </property>
</Properties>
</file>